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png" ContentType="image/png"/>
  <Default Extension="gif" ContentType="image/gif"/>
  <Default Extension="m4v" ContentType="video/mp4"/>
  <Default Extension="mp4" ContentType="video/mp4"/>
  <Default Extension="svg" ContentType="image/svg+xml"/>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svg"/><Relationship Id="rId7" Type="http://schemas.openxmlformats.org/officeDocument/2006/relationships/slideLayout" Target="../slideLayouts/slideLayout1.xml"/><Relationship Id="rId8"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sv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svg"/><Relationship Id="rId7" Type="http://schemas.openxmlformats.org/officeDocument/2006/relationships/slideLayout" Target="../slideLayouts/slideLayout1.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sv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sv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Object 1" descr="https://fynotefile.oss-cn-zhangjiakou.aliyuncs.com/fynote/fyfile/392/1/2d55bbbf0a794d2daff265f2a2ef259d.png">    </p:cNvPr>
          <p:cNvPicPr>
            <a:picLocks noChangeAspect="1"/>
          </p:cNvPicPr>
          <p:nvPr/>
        </p:nvPicPr>
        <p:blipFill>
          <a:blip r:embed="rId1"/>
          <a:stretch>
            <a:fillRect/>
          </a:stretch>
        </p:blipFill>
        <p:spPr>
          <a:xfrm>
            <a:off x="0" y="-2300"/>
            <a:ext cx="9144000" cy="4663887"/>
          </a:xfrm>
          <a:prstGeom prst="rect">
            <a:avLst/>
          </a:prstGeom>
        </p:spPr>
      </p:pic>
      <p:sp>
        <p:nvSpPr>
          <p:cNvPr id="3" name="Object2"/>
          <p:cNvSpPr/>
          <p:nvPr/>
        </p:nvSpPr>
        <p:spPr>
          <a:xfrm>
            <a:off x="764056" y="846908"/>
            <a:ext cx="7615888" cy="906971"/>
          </a:xfrm>
          <a:prstGeom prst="rect">
            <a:avLst/>
          </a:prstGeom>
          <a:noFill/>
          <a:ln/>
        </p:spPr>
        <p:txBody>
          <a:bodyPr wrap="square" rtlCol="0" anchor="ctr"/>
          <a:lstStyle/>
          <a:p>
            <a:pPr algn="ctr">
              <a:lnSpc>
                <a:spcPct val="90000"/>
              </a:lnSpc>
            </a:pPr>
            <a:r>
              <a:rPr lang="en-US" sz="5000" b="1" dirty="0">
                <a:solidFill>
                  <a:srgbClr val="666666"/>
                </a:solidFill>
                <a:latin typeface="Microsoft Yahei" pitchFamily="34" charset="0"/>
                <a:ea typeface="Microsoft Yahei" pitchFamily="34" charset="-122"/>
                <a:cs typeface="Microsoft Yahei" pitchFamily="34" charset="-120"/>
              </a:rPr>
              <a:t>ES并发控制</a:t>
            </a:r>
            <a:endParaRPr lang="en-US" sz="1500" dirty="0"/>
          </a:p>
        </p:txBody>
      </p:sp>
      <p:sp>
        <p:nvSpPr>
          <p:cNvPr id="4" name="Object3"/>
          <p:cNvSpPr/>
          <p:nvPr/>
        </p:nvSpPr>
        <p:spPr>
          <a:xfrm>
            <a:off x="1897380" y="2671019"/>
            <a:ext cx="5349240" cy="457200"/>
          </a:xfrm>
          <a:prstGeom prst="rect">
            <a:avLst/>
          </a:prstGeom>
          <a:noFill/>
          <a:ln/>
        </p:spPr>
        <p:txBody>
          <a:bodyPr wrap="square" rtlCol="0" anchor="ctr"/>
          <a:lstStyle/>
          <a:p>
            <a:endParaRPr lang="en-US" sz="1500" dirty="0"/>
          </a:p>
        </p:txBody>
      </p:sp>
      <p:sp>
        <p:nvSpPr>
          <p:cNvPr id="5" name="Object4"/>
          <p:cNvSpPr/>
          <p:nvPr/>
        </p:nvSpPr>
        <p:spPr>
          <a:xfrm>
            <a:off x="8691286" y="2028552"/>
            <a:ext cx="0" cy="2411212"/>
          </a:xfrm>
          <a:custGeom>
            <a:avLst/>
            <a:gdLst/>
            <a:ahLst/>
            <a:cxnLst/>
            <a:rect l="l" t="t" r="r" b="b"/>
            <a:pathLst>
              <a:path w="0" h="2411212">
                <a:moveTo>
                  <a:pt x="0" y="0"/>
                </a:moveTo>
                <a:lnTo>
                  <a:pt x="0" y="2411212"/>
                </a:lnTo>
              </a:path>
            </a:pathLst>
          </a:custGeom>
          <a:noFill/>
          <a:ln w="19050">
            <a:solidFill>
              <a:srgbClr val="2E9FFF"/>
            </a:solidFill>
            <a:prstDash val="solid"/>
            <a:headEnd type="none"/>
            <a:tailEnd type="none"/>
          </a:ln>
        </p:spPr>
      </p:sp>
      <p:sp>
        <p:nvSpPr>
          <p:cNvPr id="6" name="Object5"/>
          <p:cNvSpPr/>
          <p:nvPr/>
        </p:nvSpPr>
        <p:spPr>
          <a:xfrm flipV="1">
            <a:off x="8598328" y="4542715"/>
            <a:ext cx="185916" cy="137160"/>
          </a:xfrm>
          <a:custGeom>
            <a:avLst/>
            <a:gdLst/>
            <a:ahLst/>
            <a:cxnLst/>
            <a:rect l="l" t="t" r="r" b="b"/>
            <a:pathLst>
              <a:path w="185916" h="137160">
                <a:moveTo>
                  <a:pt x="92958" y="0"/>
                </a:moveTo>
                <a:lnTo>
                  <a:pt x="0" y="137160"/>
                </a:lnTo>
                <a:lnTo>
                  <a:pt x="185916" y="137160"/>
                </a:lnTo>
                <a:lnTo>
                  <a:pt x="92958" y="0"/>
                </a:lnTo>
                <a:close/>
              </a:path>
            </a:pathLst>
          </a:custGeom>
          <a:solidFill>
            <a:srgbClr val="FFFFFF">
              <a:alpha val="0"/>
            </a:srgbClr>
          </a:solidFill>
          <a:ln w="19050">
            <a:solidFill>
              <a:srgbClr val="2E9FFF"/>
            </a:solidFill>
            <a:prstDash val="solid"/>
          </a:ln>
        </p:spPr>
      </p:sp>
      <p:pic>
        <p:nvPicPr>
          <p:cNvPr id="7" name="Object 6" descr="https://fynotefile.oss-cn-zhangjiakou.aliyuncs.com/fynote/fyfile/392/1/8486aefb265a42c4adf6d8938809b6d4.png">    </p:cNvPr>
          <p:cNvPicPr>
            <a:picLocks noChangeAspect="1"/>
          </p:cNvPicPr>
          <p:nvPr/>
        </p:nvPicPr>
        <p:blipFill>
          <a:blip r:embed="rId2"/>
          <a:stretch>
            <a:fillRect/>
          </a:stretch>
        </p:blipFill>
        <p:spPr>
          <a:xfrm>
            <a:off x="6771680" y="-2300"/>
            <a:ext cx="2372320" cy="1829940"/>
          </a:xfrm>
          <a:prstGeom prst="rect">
            <a:avLst/>
          </a:prstGeom>
        </p:spPr>
      </p:pic>
      <p:pic>
        <p:nvPicPr>
          <p:cNvPr id="8" name="Object 7" descr="https://fynotefile.oss-cn-zhangjiakou.aliyuncs.com/fynote/fyfile/392/1/9942b3bd883144a4ba9eba285821cebd.png">    </p:cNvPr>
          <p:cNvPicPr>
            <a:picLocks noChangeAspect="1"/>
          </p:cNvPicPr>
          <p:nvPr/>
        </p:nvPicPr>
        <p:blipFill>
          <a:blip r:embed="rId3"/>
          <a:stretch>
            <a:fillRect/>
          </a:stretch>
        </p:blipFill>
        <p:spPr>
          <a:xfrm>
            <a:off x="0" y="2413426"/>
            <a:ext cx="1495032" cy="2480583"/>
          </a:xfrm>
          <a:prstGeom prst="rect">
            <a:avLst/>
          </a:prstGeom>
        </p:spPr>
      </p:pic>
      <p:pic>
        <p:nvPicPr>
          <p:cNvPr id="9" name="Object 8" descr="https://fynotefile.oss-cn-zhangjiakou.aliyuncs.com/fynote/fyfile/392/1/38ad7252fd0c4accabf65b2b6e4a0927.png">    </p:cNvPr>
          <p:cNvPicPr>
            <a:picLocks noChangeAspect="1"/>
          </p:cNvPicPr>
          <p:nvPr/>
        </p:nvPicPr>
        <p:blipFill>
          <a:blip r:embed="rId4"/>
          <a:stretch>
            <a:fillRect/>
          </a:stretch>
        </p:blipFill>
        <p:spPr>
          <a:xfrm>
            <a:off x="7633442" y="2886332"/>
            <a:ext cx="266271" cy="266271"/>
          </a:xfrm>
          <a:prstGeom prst="rect">
            <a:avLst/>
          </a:prstGeom>
        </p:spPr>
      </p:pic>
      <p:pic>
        <p:nvPicPr>
          <p:cNvPr id="10" name="Object 9" descr="https://fynotefile.oss-cn-zhangjiakou.aliyuncs.com/fynote/fyfile/3/1/09a55c53ed2b4a4d9ff43893669e9072.sv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85060" y="127621"/>
            <a:ext cx="1346548" cy="351232"/>
          </a:xfrm>
          <a:prstGeom prst="rect">
            <a:avLst/>
          </a:prstGeom>
        </p:spPr>
      </p:pic>
      <p:sp>
        <p:nvSpPr>
          <p:cNvPr id="11" name="Object10"/>
          <p:cNvSpPr/>
          <p:nvPr/>
        </p:nvSpPr>
        <p:spPr>
          <a:xfrm>
            <a:off x="1988820" y="2414987"/>
            <a:ext cx="5349240" cy="512064"/>
          </a:xfrm>
          <a:prstGeom prst="rect">
            <a:avLst/>
          </a:prstGeom>
          <a:noFill/>
          <a:ln/>
        </p:spPr>
        <p:txBody>
          <a:bodyPr wrap="square" rtlCol="0" anchor="ctr"/>
          <a:lstStyle/>
          <a:p>
            <a:pPr algn="ctr"/>
            <a:r>
              <a:rPr lang="en-US" sz="1800" dirty="0">
                <a:solidFill>
                  <a:srgbClr val="666666"/>
                </a:solidFill>
                <a:latin typeface="Microsoft Yahei" pitchFamily="34" charset="0"/>
                <a:ea typeface="Microsoft Yahei" pitchFamily="34" charset="-122"/>
                <a:cs typeface="Microsoft Yahei" pitchFamily="34" charset="-120"/>
              </a:rPr>
              <a:t>乐观锁</a:t>
            </a:r>
            <a:endParaRPr lang="en-US" sz="1500" dirty="0"/>
          </a:p>
        </p:txBody>
      </p:sp>
      <p:sp>
        <p:nvSpPr>
          <p:cNvPr id="12" name="Object11"/>
          <p:cNvSpPr/>
          <p:nvPr/>
        </p:nvSpPr>
        <p:spPr>
          <a:xfrm>
            <a:off x="1988820" y="1909019"/>
            <a:ext cx="5349240" cy="512064"/>
          </a:xfrm>
          <a:prstGeom prst="rect">
            <a:avLst/>
          </a:prstGeom>
          <a:noFill/>
          <a:ln/>
        </p:spPr>
        <p:txBody>
          <a:bodyPr wrap="square" rtlCol="0" anchor="ctr"/>
          <a:lstStyle/>
          <a:p>
            <a:pPr algn="ctr"/>
            <a:r>
              <a:rPr lang="en-US" sz="1800" dirty="0">
                <a:solidFill>
                  <a:srgbClr val="666666"/>
                </a:solidFill>
                <a:latin typeface="Microsoft Yahei" pitchFamily="34" charset="0"/>
                <a:ea typeface="Microsoft Yahei" pitchFamily="34" charset="-122"/>
                <a:cs typeface="Microsoft Yahei" pitchFamily="34" charset="-120"/>
              </a:rPr>
              <a:t>悲观锁</a:t>
            </a:r>
            <a:endParaRPr lang="en-US" sz="1500" dirty="0"/>
          </a:p>
        </p:txBody>
      </p:sp>
      <p:sp>
        <p:nvSpPr>
          <p:cNvPr id="13" name="Object12"/>
          <p:cNvSpPr/>
          <p:nvPr/>
        </p:nvSpPr>
        <p:spPr>
          <a:xfrm>
            <a:off x="1988820" y="2927051"/>
            <a:ext cx="5349240" cy="512064"/>
          </a:xfrm>
          <a:prstGeom prst="rect">
            <a:avLst/>
          </a:prstGeom>
          <a:noFill/>
          <a:ln/>
        </p:spPr>
        <p:txBody>
          <a:bodyPr wrap="square" rtlCol="0" anchor="ctr"/>
          <a:lstStyle/>
          <a:p>
            <a:pPr algn="ctr"/>
            <a:r>
              <a:rPr lang="en-US" sz="1800" dirty="0">
                <a:solidFill>
                  <a:srgbClr val="666666"/>
                </a:solidFill>
                <a:latin typeface="Microsoft Yahei" pitchFamily="34" charset="0"/>
                <a:ea typeface="Microsoft Yahei" pitchFamily="34" charset="-122"/>
                <a:cs typeface="Microsoft Yahei" pitchFamily="34" charset="-120"/>
              </a:rPr>
              <a:t>如何选择</a:t>
            </a:r>
            <a:endParaRPr lang="en-US" sz="1500" dirty="0"/>
          </a:p>
        </p:txBody>
      </p:sp>
      <p:sp>
        <p:nvSpPr>
          <p:cNvPr id="14" name="Object13"/>
          <p:cNvSpPr/>
          <p:nvPr/>
        </p:nvSpPr>
        <p:spPr>
          <a:xfrm>
            <a:off x="1988820" y="3524567"/>
            <a:ext cx="5349240" cy="512064"/>
          </a:xfrm>
          <a:prstGeom prst="rect">
            <a:avLst/>
          </a:prstGeom>
          <a:noFill/>
          <a:ln/>
        </p:spPr>
        <p:txBody>
          <a:bodyPr wrap="square" rtlCol="0" anchor="ctr"/>
          <a:lstStyle/>
          <a:p>
            <a:pPr algn="ctr"/>
            <a:r>
              <a:rPr lang="en-US" sz="1800" dirty="0">
                <a:solidFill>
                  <a:srgbClr val="666666"/>
                </a:solidFill>
                <a:latin typeface="Microsoft Yahei" pitchFamily="34" charset="0"/>
                <a:ea typeface="Microsoft Yahei" pitchFamily="34" charset="-122"/>
                <a:cs typeface="Microsoft Yahei" pitchFamily="34" charset="-120"/>
              </a:rPr>
              <a:t>ES中的并发控制</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Object 1" descr="https://fynotefile.oss-cn-zhangjiakou.aliyuncs.com/fynote/fyfile/392/1/2d55bbbf0a794d2daff265f2a2ef259d.png">    </p:cNvPr>
          <p:cNvPicPr>
            <a:picLocks noChangeAspect="1"/>
          </p:cNvPicPr>
          <p:nvPr/>
        </p:nvPicPr>
        <p:blipFill>
          <a:blip r:embed="rId1"/>
          <a:stretch>
            <a:fillRect/>
          </a:stretch>
        </p:blipFill>
        <p:spPr>
          <a:xfrm>
            <a:off x="0" y="-2300"/>
            <a:ext cx="9144000" cy="4663887"/>
          </a:xfrm>
          <a:prstGeom prst="rect">
            <a:avLst/>
          </a:prstGeom>
        </p:spPr>
      </p:pic>
      <p:sp>
        <p:nvSpPr>
          <p:cNvPr id="3" name="Object2"/>
          <p:cNvSpPr/>
          <p:nvPr/>
        </p:nvSpPr>
        <p:spPr>
          <a:xfrm>
            <a:off x="764056" y="846908"/>
            <a:ext cx="7615888" cy="577787"/>
          </a:xfrm>
          <a:prstGeom prst="rect">
            <a:avLst/>
          </a:prstGeom>
          <a:noFill/>
          <a:ln/>
        </p:spPr>
        <p:txBody>
          <a:bodyPr wrap="square" rtlCol="0" anchor="ctr"/>
          <a:lstStyle/>
          <a:p>
            <a:pPr algn="ctr">
              <a:lnSpc>
                <a:spcPct val="90000"/>
              </a:lnSpc>
            </a:pPr>
            <a:r>
              <a:rPr lang="en-US" sz="2700" b="1" dirty="0">
                <a:solidFill>
                  <a:srgbClr val="333333"/>
                </a:solidFill>
                <a:latin typeface="Microsoft Yahei" pitchFamily="34" charset="0"/>
                <a:ea typeface="Microsoft Yahei" pitchFamily="34" charset="-122"/>
                <a:cs typeface="Microsoft Yahei" pitchFamily="34" charset="-120"/>
              </a:rPr>
              <a:t>悲观锁</a:t>
            </a:r>
            <a:endParaRPr lang="en-US" sz="1500" dirty="0"/>
          </a:p>
        </p:txBody>
      </p:sp>
      <p:sp>
        <p:nvSpPr>
          <p:cNvPr id="4" name="Object3"/>
          <p:cNvSpPr/>
          <p:nvPr/>
        </p:nvSpPr>
        <p:spPr>
          <a:xfrm>
            <a:off x="1897380" y="2671019"/>
            <a:ext cx="5349240" cy="731520"/>
          </a:xfrm>
          <a:prstGeom prst="rect">
            <a:avLst/>
          </a:prstGeom>
          <a:noFill/>
          <a:ln/>
        </p:spPr>
        <p:txBody>
          <a:bodyPr wrap="square" rtlCol="0" anchor="ctr"/>
          <a:lstStyle/>
          <a:p>
            <a:endParaRPr lang="en-US" sz="1500" dirty="0"/>
          </a:p>
        </p:txBody>
      </p:sp>
      <p:sp>
        <p:nvSpPr>
          <p:cNvPr id="5" name="Object4"/>
          <p:cNvSpPr/>
          <p:nvPr/>
        </p:nvSpPr>
        <p:spPr>
          <a:xfrm>
            <a:off x="8691286" y="2028552"/>
            <a:ext cx="0" cy="2411212"/>
          </a:xfrm>
          <a:custGeom>
            <a:avLst/>
            <a:gdLst/>
            <a:ahLst/>
            <a:cxnLst/>
            <a:rect l="l" t="t" r="r" b="b"/>
            <a:pathLst>
              <a:path w="0" h="2411212">
                <a:moveTo>
                  <a:pt x="0" y="0"/>
                </a:moveTo>
                <a:lnTo>
                  <a:pt x="0" y="2411212"/>
                </a:lnTo>
              </a:path>
            </a:pathLst>
          </a:custGeom>
          <a:noFill/>
          <a:ln w="19050">
            <a:solidFill>
              <a:srgbClr val="2E9FFF"/>
            </a:solidFill>
            <a:prstDash val="solid"/>
            <a:headEnd type="none"/>
            <a:tailEnd type="none"/>
          </a:ln>
        </p:spPr>
      </p:sp>
      <p:sp>
        <p:nvSpPr>
          <p:cNvPr id="6" name="Object5"/>
          <p:cNvSpPr/>
          <p:nvPr/>
        </p:nvSpPr>
        <p:spPr>
          <a:xfrm flipV="1">
            <a:off x="8598328" y="4542715"/>
            <a:ext cx="185916" cy="137160"/>
          </a:xfrm>
          <a:custGeom>
            <a:avLst/>
            <a:gdLst/>
            <a:ahLst/>
            <a:cxnLst/>
            <a:rect l="l" t="t" r="r" b="b"/>
            <a:pathLst>
              <a:path w="185916" h="137160">
                <a:moveTo>
                  <a:pt x="92958" y="0"/>
                </a:moveTo>
                <a:lnTo>
                  <a:pt x="0" y="137160"/>
                </a:lnTo>
                <a:lnTo>
                  <a:pt x="185916" y="137160"/>
                </a:lnTo>
                <a:lnTo>
                  <a:pt x="92958" y="0"/>
                </a:lnTo>
                <a:close/>
              </a:path>
            </a:pathLst>
          </a:custGeom>
          <a:solidFill>
            <a:srgbClr val="FFFFFF">
              <a:alpha val="0"/>
            </a:srgbClr>
          </a:solidFill>
          <a:ln w="19050">
            <a:solidFill>
              <a:srgbClr val="2E9FFF"/>
            </a:solidFill>
            <a:prstDash val="solid"/>
          </a:ln>
        </p:spPr>
      </p:sp>
      <p:pic>
        <p:nvPicPr>
          <p:cNvPr id="7" name="Object 6" descr="https://fynotefile.oss-cn-zhangjiakou.aliyuncs.com/fynote/fyfile/392/1/8486aefb265a42c4adf6d8938809b6d4.png">    </p:cNvPr>
          <p:cNvPicPr>
            <a:picLocks noChangeAspect="1"/>
          </p:cNvPicPr>
          <p:nvPr/>
        </p:nvPicPr>
        <p:blipFill>
          <a:blip r:embed="rId2"/>
          <a:stretch>
            <a:fillRect/>
          </a:stretch>
        </p:blipFill>
        <p:spPr>
          <a:xfrm>
            <a:off x="6771680" y="-2300"/>
            <a:ext cx="2372320" cy="1829940"/>
          </a:xfrm>
          <a:prstGeom prst="rect">
            <a:avLst/>
          </a:prstGeom>
        </p:spPr>
      </p:pic>
      <p:pic>
        <p:nvPicPr>
          <p:cNvPr id="8" name="Object 7" descr="https://fynotefile.oss-cn-zhangjiakou.aliyuncs.com/fynote/fyfile/392/1/9942b3bd883144a4ba9eba285821cebd.png">    </p:cNvPr>
          <p:cNvPicPr>
            <a:picLocks noChangeAspect="1"/>
          </p:cNvPicPr>
          <p:nvPr/>
        </p:nvPicPr>
        <p:blipFill>
          <a:blip r:embed="rId3"/>
          <a:stretch>
            <a:fillRect/>
          </a:stretch>
        </p:blipFill>
        <p:spPr>
          <a:xfrm>
            <a:off x="0" y="2413426"/>
            <a:ext cx="1495032" cy="2480583"/>
          </a:xfrm>
          <a:prstGeom prst="rect">
            <a:avLst/>
          </a:prstGeom>
        </p:spPr>
      </p:pic>
      <p:pic>
        <p:nvPicPr>
          <p:cNvPr id="9" name="Object 8" descr="https://fynotefile.oss-cn-zhangjiakou.aliyuncs.com/fynote/fyfile/392/1/38ad7252fd0c4accabf65b2b6e4a0927.png">    </p:cNvPr>
          <p:cNvPicPr>
            <a:picLocks noChangeAspect="1"/>
          </p:cNvPicPr>
          <p:nvPr/>
        </p:nvPicPr>
        <p:blipFill>
          <a:blip r:embed="rId4"/>
          <a:stretch>
            <a:fillRect/>
          </a:stretch>
        </p:blipFill>
        <p:spPr>
          <a:xfrm>
            <a:off x="7633442" y="2886332"/>
            <a:ext cx="266271" cy="266271"/>
          </a:xfrm>
          <a:prstGeom prst="rect">
            <a:avLst/>
          </a:prstGeom>
        </p:spPr>
      </p:pic>
      <p:pic>
        <p:nvPicPr>
          <p:cNvPr id="10" name="Object 9" descr="https://fynotefile.oss-cn-zhangjiakou.aliyuncs.com/fynote/fyfile/3/1/09a55c53ed2b4a4d9ff43893669e9072.sv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85060" y="127621"/>
            <a:ext cx="1346548" cy="351232"/>
          </a:xfrm>
          <a:prstGeom prst="rect">
            <a:avLst/>
          </a:prstGeom>
        </p:spPr>
      </p:pic>
      <p:sp>
        <p:nvSpPr>
          <p:cNvPr id="11" name="Object10"/>
          <p:cNvSpPr/>
          <p:nvPr/>
        </p:nvSpPr>
        <p:spPr>
          <a:xfrm>
            <a:off x="1706422" y="1872443"/>
            <a:ext cx="6193291" cy="1828800"/>
          </a:xfrm>
          <a:prstGeom prst="rect">
            <a:avLst/>
          </a:prstGeom>
          <a:noFill/>
          <a:ln/>
        </p:spPr>
        <p:txBody>
          <a:bodyPr wrap="square" rtlCol="0" anchor="ctr"/>
          <a:lstStyle/>
          <a:p>
            <a:r>
              <a:rPr lang="en-US" sz="1800" dirty="0">
                <a:solidFill>
                  <a:srgbClr val="333333"/>
                </a:solidFill>
                <a:latin typeface="Microsoft Yahei" pitchFamily="34" charset="0"/>
                <a:ea typeface="Microsoft Yahei" pitchFamily="34" charset="-122"/>
                <a:cs typeface="Microsoft Yahei" pitchFamily="34" charset="-120"/>
              </a:rPr>
              <a:t>对于一个共享数据，某个线程访问到这个数据的时候，会认为这个数据随时有可能会被其他线程访问而造成数据不安全的情况，因此线程在每次访问的时候都会对数据加一把锁。这样其他线程如果在加锁期间想访问当前数据就只能等待，也就是阻塞线程了。</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Object 1" descr="https://fynotefile.oss-cn-zhangjiakou.aliyuncs.com/fynote/fyfile/392/1/2d55bbbf0a794d2daff265f2a2ef259d.png">    </p:cNvPr>
          <p:cNvPicPr>
            <a:picLocks noChangeAspect="1"/>
          </p:cNvPicPr>
          <p:nvPr/>
        </p:nvPicPr>
        <p:blipFill>
          <a:blip r:embed="rId1"/>
          <a:stretch>
            <a:fillRect/>
          </a:stretch>
        </p:blipFill>
        <p:spPr>
          <a:xfrm>
            <a:off x="0" y="-2300"/>
            <a:ext cx="9144000" cy="4663887"/>
          </a:xfrm>
          <a:prstGeom prst="rect">
            <a:avLst/>
          </a:prstGeom>
        </p:spPr>
      </p:pic>
      <p:sp>
        <p:nvSpPr>
          <p:cNvPr id="3" name="Object2"/>
          <p:cNvSpPr/>
          <p:nvPr/>
        </p:nvSpPr>
        <p:spPr>
          <a:xfrm>
            <a:off x="764056" y="846908"/>
            <a:ext cx="7615888" cy="577787"/>
          </a:xfrm>
          <a:prstGeom prst="rect">
            <a:avLst/>
          </a:prstGeom>
          <a:noFill/>
          <a:ln/>
        </p:spPr>
        <p:txBody>
          <a:bodyPr wrap="square" rtlCol="0" anchor="ctr"/>
          <a:lstStyle/>
          <a:p>
            <a:pPr algn="ctr">
              <a:lnSpc>
                <a:spcPct val="90000"/>
              </a:lnSpc>
            </a:pPr>
            <a:r>
              <a:rPr lang="en-US" sz="2700" b="1" dirty="0">
                <a:solidFill>
                  <a:srgbClr val="333333"/>
                </a:solidFill>
                <a:latin typeface="Microsoft Yahei" pitchFamily="34" charset="0"/>
                <a:ea typeface="Microsoft Yahei" pitchFamily="34" charset="-122"/>
                <a:cs typeface="Microsoft Yahei" pitchFamily="34" charset="-120"/>
              </a:rPr>
              <a:t>乐观锁</a:t>
            </a:r>
            <a:endParaRPr lang="en-US" sz="1500" dirty="0"/>
          </a:p>
        </p:txBody>
      </p:sp>
      <p:sp>
        <p:nvSpPr>
          <p:cNvPr id="4" name="Object3"/>
          <p:cNvSpPr/>
          <p:nvPr/>
        </p:nvSpPr>
        <p:spPr>
          <a:xfrm>
            <a:off x="1897380" y="2671019"/>
            <a:ext cx="5349240" cy="731520"/>
          </a:xfrm>
          <a:prstGeom prst="rect">
            <a:avLst/>
          </a:prstGeom>
          <a:noFill/>
          <a:ln/>
        </p:spPr>
        <p:txBody>
          <a:bodyPr wrap="square" rtlCol="0" anchor="ctr"/>
          <a:lstStyle/>
          <a:p>
            <a:endParaRPr lang="en-US" sz="1500" dirty="0"/>
          </a:p>
        </p:txBody>
      </p:sp>
      <p:sp>
        <p:nvSpPr>
          <p:cNvPr id="5" name="Object4"/>
          <p:cNvSpPr/>
          <p:nvPr/>
        </p:nvSpPr>
        <p:spPr>
          <a:xfrm>
            <a:off x="8691286" y="2028552"/>
            <a:ext cx="0" cy="2411212"/>
          </a:xfrm>
          <a:custGeom>
            <a:avLst/>
            <a:gdLst/>
            <a:ahLst/>
            <a:cxnLst/>
            <a:rect l="l" t="t" r="r" b="b"/>
            <a:pathLst>
              <a:path w="0" h="2411212">
                <a:moveTo>
                  <a:pt x="0" y="0"/>
                </a:moveTo>
                <a:lnTo>
                  <a:pt x="0" y="2411212"/>
                </a:lnTo>
              </a:path>
            </a:pathLst>
          </a:custGeom>
          <a:noFill/>
          <a:ln w="19050">
            <a:solidFill>
              <a:srgbClr val="2E9FFF"/>
            </a:solidFill>
            <a:prstDash val="solid"/>
            <a:headEnd type="none"/>
            <a:tailEnd type="none"/>
          </a:ln>
        </p:spPr>
      </p:sp>
      <p:sp>
        <p:nvSpPr>
          <p:cNvPr id="6" name="Object5"/>
          <p:cNvSpPr/>
          <p:nvPr/>
        </p:nvSpPr>
        <p:spPr>
          <a:xfrm flipV="1">
            <a:off x="8598328" y="4542715"/>
            <a:ext cx="185916" cy="137160"/>
          </a:xfrm>
          <a:custGeom>
            <a:avLst/>
            <a:gdLst/>
            <a:ahLst/>
            <a:cxnLst/>
            <a:rect l="l" t="t" r="r" b="b"/>
            <a:pathLst>
              <a:path w="185916" h="137160">
                <a:moveTo>
                  <a:pt x="92958" y="0"/>
                </a:moveTo>
                <a:lnTo>
                  <a:pt x="0" y="137160"/>
                </a:lnTo>
                <a:lnTo>
                  <a:pt x="185916" y="137160"/>
                </a:lnTo>
                <a:lnTo>
                  <a:pt x="92958" y="0"/>
                </a:lnTo>
                <a:close/>
              </a:path>
            </a:pathLst>
          </a:custGeom>
          <a:solidFill>
            <a:srgbClr val="FFFFFF">
              <a:alpha val="0"/>
            </a:srgbClr>
          </a:solidFill>
          <a:ln w="19050">
            <a:solidFill>
              <a:srgbClr val="2E9FFF"/>
            </a:solidFill>
            <a:prstDash val="solid"/>
          </a:ln>
        </p:spPr>
      </p:sp>
      <p:pic>
        <p:nvPicPr>
          <p:cNvPr id="7" name="Object 6" descr="https://fynotefile.oss-cn-zhangjiakou.aliyuncs.com/fynote/fyfile/392/1/8486aefb265a42c4adf6d8938809b6d4.png">    </p:cNvPr>
          <p:cNvPicPr>
            <a:picLocks noChangeAspect="1"/>
          </p:cNvPicPr>
          <p:nvPr/>
        </p:nvPicPr>
        <p:blipFill>
          <a:blip r:embed="rId2"/>
          <a:stretch>
            <a:fillRect/>
          </a:stretch>
        </p:blipFill>
        <p:spPr>
          <a:xfrm>
            <a:off x="6771680" y="-2300"/>
            <a:ext cx="2372320" cy="1829940"/>
          </a:xfrm>
          <a:prstGeom prst="rect">
            <a:avLst/>
          </a:prstGeom>
        </p:spPr>
      </p:pic>
      <p:pic>
        <p:nvPicPr>
          <p:cNvPr id="8" name="Object 7" descr="https://fynotefile.oss-cn-zhangjiakou.aliyuncs.com/fynote/fyfile/392/1/9942b3bd883144a4ba9eba285821cebd.png">    </p:cNvPr>
          <p:cNvPicPr>
            <a:picLocks noChangeAspect="1"/>
          </p:cNvPicPr>
          <p:nvPr/>
        </p:nvPicPr>
        <p:blipFill>
          <a:blip r:embed="rId3"/>
          <a:stretch>
            <a:fillRect/>
          </a:stretch>
        </p:blipFill>
        <p:spPr>
          <a:xfrm>
            <a:off x="0" y="2413426"/>
            <a:ext cx="1495032" cy="2480583"/>
          </a:xfrm>
          <a:prstGeom prst="rect">
            <a:avLst/>
          </a:prstGeom>
        </p:spPr>
      </p:pic>
      <p:pic>
        <p:nvPicPr>
          <p:cNvPr id="9" name="Object 8" descr="https://fynotefile.oss-cn-zhangjiakou.aliyuncs.com/fynote/fyfile/392/1/38ad7252fd0c4accabf65b2b6e4a0927.png">    </p:cNvPr>
          <p:cNvPicPr>
            <a:picLocks noChangeAspect="1"/>
          </p:cNvPicPr>
          <p:nvPr/>
        </p:nvPicPr>
        <p:blipFill>
          <a:blip r:embed="rId4"/>
          <a:stretch>
            <a:fillRect/>
          </a:stretch>
        </p:blipFill>
        <p:spPr>
          <a:xfrm>
            <a:off x="7633442" y="2886332"/>
            <a:ext cx="266271" cy="266271"/>
          </a:xfrm>
          <a:prstGeom prst="rect">
            <a:avLst/>
          </a:prstGeom>
        </p:spPr>
      </p:pic>
      <p:pic>
        <p:nvPicPr>
          <p:cNvPr id="10" name="Object 9" descr="https://fynotefile.oss-cn-zhangjiakou.aliyuncs.com/fynote/fyfile/3/1/09a55c53ed2b4a4d9ff43893669e9072.sv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85060" y="127621"/>
            <a:ext cx="1346548" cy="351232"/>
          </a:xfrm>
          <a:prstGeom prst="rect">
            <a:avLst/>
          </a:prstGeom>
        </p:spPr>
      </p:pic>
      <p:sp>
        <p:nvSpPr>
          <p:cNvPr id="11" name="Object10"/>
          <p:cNvSpPr/>
          <p:nvPr/>
        </p:nvSpPr>
        <p:spPr>
          <a:xfrm>
            <a:off x="1706422" y="1872443"/>
            <a:ext cx="6193291" cy="1554480"/>
          </a:xfrm>
          <a:prstGeom prst="rect">
            <a:avLst/>
          </a:prstGeom>
          <a:noFill/>
          <a:ln/>
        </p:spPr>
        <p:txBody>
          <a:bodyPr wrap="square" rtlCol="0" anchor="ctr"/>
          <a:lstStyle/>
          <a:p>
            <a:r>
              <a:rPr lang="en-US" sz="1500" dirty="0">
                <a:solidFill>
                  <a:srgbClr val="333333"/>
                </a:solidFill>
                <a:latin typeface="Microsoft Yahei" pitchFamily="34" charset="0"/>
                <a:ea typeface="Microsoft Yahei" pitchFamily="34" charset="-122"/>
                <a:cs typeface="Microsoft Yahei" pitchFamily="34" charset="-120"/>
              </a:rPr>
              <a:t>乐观锁的并不是真的加了一把锁。乐观锁机制表示线程在每次操作数据的时候，都乐观的认为不会有其他线程来会来操作当前数据，因此不加锁。但是乐观锁在每次更新数据的时候都会通过比对版本号来检查当前数据是不是被其他线程修改过。如果没有，则正常修改数据并且更新数据版本号，否则，仅更新自身版本号。</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Object 1" descr="https://fynotefile.oss-cn-zhangjiakou.aliyuncs.com/fynote/fyfile/392/1/2d55bbbf0a794d2daff265f2a2ef259d.png">    </p:cNvPr>
          <p:cNvPicPr>
            <a:picLocks noChangeAspect="1"/>
          </p:cNvPicPr>
          <p:nvPr/>
        </p:nvPicPr>
        <p:blipFill>
          <a:blip r:embed="rId1"/>
          <a:stretch>
            <a:fillRect/>
          </a:stretch>
        </p:blipFill>
        <p:spPr>
          <a:xfrm>
            <a:off x="0" y="-2300"/>
            <a:ext cx="9144000" cy="4663887"/>
          </a:xfrm>
          <a:prstGeom prst="rect">
            <a:avLst/>
          </a:prstGeom>
        </p:spPr>
      </p:pic>
      <p:sp>
        <p:nvSpPr>
          <p:cNvPr id="3" name="Object2"/>
          <p:cNvSpPr/>
          <p:nvPr/>
        </p:nvSpPr>
        <p:spPr>
          <a:xfrm>
            <a:off x="764056" y="846908"/>
            <a:ext cx="7615888" cy="577787"/>
          </a:xfrm>
          <a:prstGeom prst="rect">
            <a:avLst/>
          </a:prstGeom>
          <a:noFill/>
          <a:ln/>
        </p:spPr>
        <p:txBody>
          <a:bodyPr wrap="square" rtlCol="0" anchor="ctr"/>
          <a:lstStyle/>
          <a:p>
            <a:pPr algn="ctr">
              <a:lnSpc>
                <a:spcPct val="90000"/>
              </a:lnSpc>
            </a:pPr>
            <a:r>
              <a:rPr lang="en-US" sz="2700" b="1" dirty="0">
                <a:solidFill>
                  <a:srgbClr val="333333"/>
                </a:solidFill>
                <a:latin typeface="Microsoft Yahei" pitchFamily="34" charset="0"/>
                <a:ea typeface="Microsoft Yahei" pitchFamily="34" charset="-122"/>
                <a:cs typeface="Microsoft Yahei" pitchFamily="34" charset="-120"/>
              </a:rPr>
              <a:t>悲观锁、乐观锁 如何选择</a:t>
            </a:r>
            <a:endParaRPr lang="en-US" sz="1500" dirty="0"/>
          </a:p>
        </p:txBody>
      </p:sp>
      <p:sp>
        <p:nvSpPr>
          <p:cNvPr id="4" name="Object3"/>
          <p:cNvSpPr/>
          <p:nvPr/>
        </p:nvSpPr>
        <p:spPr>
          <a:xfrm>
            <a:off x="1897380" y="2671019"/>
            <a:ext cx="5349240" cy="731520"/>
          </a:xfrm>
          <a:prstGeom prst="rect">
            <a:avLst/>
          </a:prstGeom>
          <a:noFill/>
          <a:ln/>
        </p:spPr>
        <p:txBody>
          <a:bodyPr wrap="square" rtlCol="0" anchor="ctr"/>
          <a:lstStyle/>
          <a:p>
            <a:endParaRPr lang="en-US" sz="1500" dirty="0"/>
          </a:p>
        </p:txBody>
      </p:sp>
      <p:sp>
        <p:nvSpPr>
          <p:cNvPr id="5" name="Object4"/>
          <p:cNvSpPr/>
          <p:nvPr/>
        </p:nvSpPr>
        <p:spPr>
          <a:xfrm>
            <a:off x="8691286" y="2028552"/>
            <a:ext cx="0" cy="2411212"/>
          </a:xfrm>
          <a:custGeom>
            <a:avLst/>
            <a:gdLst/>
            <a:ahLst/>
            <a:cxnLst/>
            <a:rect l="l" t="t" r="r" b="b"/>
            <a:pathLst>
              <a:path w="0" h="2411212">
                <a:moveTo>
                  <a:pt x="0" y="0"/>
                </a:moveTo>
                <a:lnTo>
                  <a:pt x="0" y="2411212"/>
                </a:lnTo>
              </a:path>
            </a:pathLst>
          </a:custGeom>
          <a:noFill/>
          <a:ln w="19050">
            <a:solidFill>
              <a:srgbClr val="2E9FFF"/>
            </a:solidFill>
            <a:prstDash val="solid"/>
            <a:headEnd type="none"/>
            <a:tailEnd type="none"/>
          </a:ln>
        </p:spPr>
      </p:sp>
      <p:sp>
        <p:nvSpPr>
          <p:cNvPr id="6" name="Object5"/>
          <p:cNvSpPr/>
          <p:nvPr/>
        </p:nvSpPr>
        <p:spPr>
          <a:xfrm flipV="1">
            <a:off x="8598328" y="4542715"/>
            <a:ext cx="185916" cy="137160"/>
          </a:xfrm>
          <a:custGeom>
            <a:avLst/>
            <a:gdLst/>
            <a:ahLst/>
            <a:cxnLst/>
            <a:rect l="l" t="t" r="r" b="b"/>
            <a:pathLst>
              <a:path w="185916" h="137160">
                <a:moveTo>
                  <a:pt x="92958" y="0"/>
                </a:moveTo>
                <a:lnTo>
                  <a:pt x="0" y="137160"/>
                </a:lnTo>
                <a:lnTo>
                  <a:pt x="185916" y="137160"/>
                </a:lnTo>
                <a:lnTo>
                  <a:pt x="92958" y="0"/>
                </a:lnTo>
                <a:close/>
              </a:path>
            </a:pathLst>
          </a:custGeom>
          <a:solidFill>
            <a:srgbClr val="FFFFFF">
              <a:alpha val="0"/>
            </a:srgbClr>
          </a:solidFill>
          <a:ln w="19050">
            <a:solidFill>
              <a:srgbClr val="2E9FFF"/>
            </a:solidFill>
            <a:prstDash val="solid"/>
          </a:ln>
        </p:spPr>
      </p:sp>
      <p:pic>
        <p:nvPicPr>
          <p:cNvPr id="7" name="Object 6" descr="https://fynotefile.oss-cn-zhangjiakou.aliyuncs.com/fynote/fyfile/392/1/8486aefb265a42c4adf6d8938809b6d4.png">    </p:cNvPr>
          <p:cNvPicPr>
            <a:picLocks noChangeAspect="1"/>
          </p:cNvPicPr>
          <p:nvPr/>
        </p:nvPicPr>
        <p:blipFill>
          <a:blip r:embed="rId2"/>
          <a:stretch>
            <a:fillRect/>
          </a:stretch>
        </p:blipFill>
        <p:spPr>
          <a:xfrm>
            <a:off x="6771680" y="-2300"/>
            <a:ext cx="2372320" cy="1829940"/>
          </a:xfrm>
          <a:prstGeom prst="rect">
            <a:avLst/>
          </a:prstGeom>
        </p:spPr>
      </p:pic>
      <p:pic>
        <p:nvPicPr>
          <p:cNvPr id="8" name="Object 7" descr="https://fynotefile.oss-cn-zhangjiakou.aliyuncs.com/fynote/fyfile/392/1/9942b3bd883144a4ba9eba285821cebd.png">    </p:cNvPr>
          <p:cNvPicPr>
            <a:picLocks noChangeAspect="1"/>
          </p:cNvPicPr>
          <p:nvPr/>
        </p:nvPicPr>
        <p:blipFill>
          <a:blip r:embed="rId3"/>
          <a:stretch>
            <a:fillRect/>
          </a:stretch>
        </p:blipFill>
        <p:spPr>
          <a:xfrm>
            <a:off x="0" y="2413426"/>
            <a:ext cx="1495032" cy="2480583"/>
          </a:xfrm>
          <a:prstGeom prst="rect">
            <a:avLst/>
          </a:prstGeom>
        </p:spPr>
      </p:pic>
      <p:pic>
        <p:nvPicPr>
          <p:cNvPr id="9" name="Object 8" descr="https://fynotefile.oss-cn-zhangjiakou.aliyuncs.com/fynote/fyfile/392/1/38ad7252fd0c4accabf65b2b6e4a0927.png">    </p:cNvPr>
          <p:cNvPicPr>
            <a:picLocks noChangeAspect="1"/>
          </p:cNvPicPr>
          <p:nvPr/>
        </p:nvPicPr>
        <p:blipFill>
          <a:blip r:embed="rId4"/>
          <a:stretch>
            <a:fillRect/>
          </a:stretch>
        </p:blipFill>
        <p:spPr>
          <a:xfrm>
            <a:off x="7633442" y="2886332"/>
            <a:ext cx="266271" cy="266271"/>
          </a:xfrm>
          <a:prstGeom prst="rect">
            <a:avLst/>
          </a:prstGeom>
        </p:spPr>
      </p:pic>
      <p:pic>
        <p:nvPicPr>
          <p:cNvPr id="10" name="Object 9" descr="https://fynotefile.oss-cn-zhangjiakou.aliyuncs.com/fynote/fyfile/3/1/09a55c53ed2b4a4d9ff43893669e9072.sv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85060" y="127621"/>
            <a:ext cx="1346548" cy="351232"/>
          </a:xfrm>
          <a:prstGeom prst="rect">
            <a:avLst/>
          </a:prstGeom>
        </p:spPr>
      </p:pic>
      <p:sp>
        <p:nvSpPr>
          <p:cNvPr id="11" name="Object10"/>
          <p:cNvSpPr/>
          <p:nvPr/>
        </p:nvSpPr>
        <p:spPr>
          <a:xfrm>
            <a:off x="1706422" y="1872443"/>
            <a:ext cx="6193291" cy="3383280"/>
          </a:xfrm>
          <a:prstGeom prst="rect">
            <a:avLst/>
          </a:prstGeom>
          <a:noFill/>
          <a:ln/>
        </p:spPr>
        <p:txBody>
          <a:bodyPr wrap="square" rtlCol="0" anchor="ctr"/>
          <a:lstStyle/>
          <a:p>
            <a:r>
              <a:rPr lang="en-US" sz="1500" dirty="0">
                <a:solidFill>
                  <a:srgbClr val="333333"/>
                </a:solidFill>
                <a:latin typeface="Microsoft Yahei" pitchFamily="34" charset="0"/>
                <a:ea typeface="Microsoft Yahei" pitchFamily="34" charset="-122"/>
                <a:cs typeface="Microsoft Yahei" pitchFamily="34" charset="-120"/>
              </a:rPr>
              <a:t>- 首先，悲观锁和乐观锁没有孰优孰劣，他们各自有各自的适用场景。</a:t>
            </a:r>
            <a:endParaRPr lang="en-US" sz="1500" dirty="0"/>
          </a:p>
          <a:p>
            <a:endParaRPr lang="en-US" sz="1500" dirty="0"/>
          </a:p>
          <a:p>
            <a:r>
              <a:rPr lang="en-US" sz="1500" dirty="0">
                <a:solidFill>
                  <a:srgbClr val="333333"/>
                </a:solidFill>
                <a:latin typeface="Microsoft Yahei" pitchFamily="34" charset="0"/>
                <a:ea typeface="Microsoft Yahei" pitchFamily="34" charset="-122"/>
                <a:cs typeface="Microsoft Yahei" pitchFamily="34" charset="-120"/>
              </a:rPr>
              <a:t>- 当并发写入数量较少的情况，乐观锁因为并没有真正的去上锁，从而避免频繁的上锁、释放锁而带来的性能开销，从而提升了吞吐性能</a:t>
            </a:r>
            <a:endParaRPr lang="en-US" sz="1500" dirty="0"/>
          </a:p>
          <a:p>
            <a:endParaRPr lang="en-US" sz="1500" dirty="0"/>
          </a:p>
          <a:p>
            <a:r>
              <a:rPr lang="en-US" sz="1500" dirty="0">
                <a:solidFill>
                  <a:srgbClr val="333333"/>
                </a:solidFill>
                <a:latin typeface="Microsoft Yahei" pitchFamily="34" charset="0"/>
                <a:ea typeface="Microsoft Yahei" pitchFamily="34" charset="-122"/>
                <a:cs typeface="Microsoft Yahei" pitchFamily="34" charset="-120"/>
              </a:rPr>
              <a:t>- 当并发写入量较大的时候，线程之间竞争激烈，就会导致线程频繁的尝试，每次尝试都要进行版本号比对，尝试失败还要更新自身携带的版本号，这样反复尝试积累的性能损耗可能已经超过了使用直接加锁然后将线程挂起而带来的损耗，此时使用悲观锁更加合适。</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Object 1" descr="https://fynotefile.oss-cn-zhangjiakou.aliyuncs.com/fynote/fyfile/392/1/2d55bbbf0a794d2daff265f2a2ef259d.png">    </p:cNvPr>
          <p:cNvPicPr>
            <a:picLocks noChangeAspect="1"/>
          </p:cNvPicPr>
          <p:nvPr/>
        </p:nvPicPr>
        <p:blipFill>
          <a:blip r:embed="rId1"/>
          <a:stretch>
            <a:fillRect/>
          </a:stretch>
        </p:blipFill>
        <p:spPr>
          <a:xfrm>
            <a:off x="0" y="-2300"/>
            <a:ext cx="9144000" cy="4663887"/>
          </a:xfrm>
          <a:prstGeom prst="rect">
            <a:avLst/>
          </a:prstGeom>
        </p:spPr>
      </p:pic>
      <p:sp>
        <p:nvSpPr>
          <p:cNvPr id="3" name="Object2"/>
          <p:cNvSpPr/>
          <p:nvPr/>
        </p:nvSpPr>
        <p:spPr>
          <a:xfrm>
            <a:off x="764056" y="1119532"/>
            <a:ext cx="7615888" cy="577787"/>
          </a:xfrm>
          <a:prstGeom prst="rect">
            <a:avLst/>
          </a:prstGeom>
          <a:noFill/>
          <a:ln/>
        </p:spPr>
        <p:txBody>
          <a:bodyPr wrap="square" rtlCol="0" anchor="ctr"/>
          <a:lstStyle/>
          <a:p>
            <a:pPr algn="ctr">
              <a:lnSpc>
                <a:spcPct val="90000"/>
              </a:lnSpc>
            </a:pPr>
            <a:r>
              <a:rPr lang="en-US" sz="2700" b="1" dirty="0">
                <a:solidFill>
                  <a:srgbClr val="333333"/>
                </a:solidFill>
                <a:latin typeface="Microsoft Yahei" pitchFamily="34" charset="0"/>
                <a:ea typeface="Microsoft Yahei" pitchFamily="34" charset="-122"/>
                <a:cs typeface="Microsoft Yahei" pitchFamily="34" charset="-120"/>
              </a:rPr>
              <a:t>ES中的并发控制</a:t>
            </a:r>
            <a:endParaRPr lang="en-US" sz="1500" dirty="0"/>
          </a:p>
        </p:txBody>
      </p:sp>
      <p:sp>
        <p:nvSpPr>
          <p:cNvPr id="4" name="Object3"/>
          <p:cNvSpPr/>
          <p:nvPr/>
        </p:nvSpPr>
        <p:spPr>
          <a:xfrm>
            <a:off x="1897380" y="2671019"/>
            <a:ext cx="5349240" cy="731520"/>
          </a:xfrm>
          <a:prstGeom prst="rect">
            <a:avLst/>
          </a:prstGeom>
          <a:noFill/>
          <a:ln/>
        </p:spPr>
        <p:txBody>
          <a:bodyPr wrap="square" rtlCol="0" anchor="ctr"/>
          <a:lstStyle/>
          <a:p>
            <a:endParaRPr lang="en-US" sz="1500" dirty="0"/>
          </a:p>
        </p:txBody>
      </p:sp>
      <p:sp>
        <p:nvSpPr>
          <p:cNvPr id="5" name="Object4"/>
          <p:cNvSpPr/>
          <p:nvPr/>
        </p:nvSpPr>
        <p:spPr>
          <a:xfrm>
            <a:off x="8691286" y="2028552"/>
            <a:ext cx="0" cy="2411212"/>
          </a:xfrm>
          <a:custGeom>
            <a:avLst/>
            <a:gdLst/>
            <a:ahLst/>
            <a:cxnLst/>
            <a:rect l="l" t="t" r="r" b="b"/>
            <a:pathLst>
              <a:path w="0" h="2411212">
                <a:moveTo>
                  <a:pt x="0" y="0"/>
                </a:moveTo>
                <a:lnTo>
                  <a:pt x="0" y="2411212"/>
                </a:lnTo>
              </a:path>
            </a:pathLst>
          </a:custGeom>
          <a:noFill/>
          <a:ln w="19050">
            <a:solidFill>
              <a:srgbClr val="2E9FFF"/>
            </a:solidFill>
            <a:prstDash val="solid"/>
            <a:headEnd type="none"/>
            <a:tailEnd type="none"/>
          </a:ln>
        </p:spPr>
      </p:sp>
      <p:sp>
        <p:nvSpPr>
          <p:cNvPr id="6" name="Object5"/>
          <p:cNvSpPr/>
          <p:nvPr/>
        </p:nvSpPr>
        <p:spPr>
          <a:xfrm flipV="1">
            <a:off x="8598328" y="4542715"/>
            <a:ext cx="185916" cy="137160"/>
          </a:xfrm>
          <a:custGeom>
            <a:avLst/>
            <a:gdLst/>
            <a:ahLst/>
            <a:cxnLst/>
            <a:rect l="l" t="t" r="r" b="b"/>
            <a:pathLst>
              <a:path w="185916" h="137160">
                <a:moveTo>
                  <a:pt x="92958" y="0"/>
                </a:moveTo>
                <a:lnTo>
                  <a:pt x="0" y="137160"/>
                </a:lnTo>
                <a:lnTo>
                  <a:pt x="185916" y="137160"/>
                </a:lnTo>
                <a:lnTo>
                  <a:pt x="92958" y="0"/>
                </a:lnTo>
                <a:close/>
              </a:path>
            </a:pathLst>
          </a:custGeom>
          <a:solidFill>
            <a:srgbClr val="FFFFFF">
              <a:alpha val="0"/>
            </a:srgbClr>
          </a:solidFill>
          <a:ln w="19050">
            <a:solidFill>
              <a:srgbClr val="2E9FFF"/>
            </a:solidFill>
            <a:prstDash val="solid"/>
          </a:ln>
        </p:spPr>
      </p:sp>
      <p:pic>
        <p:nvPicPr>
          <p:cNvPr id="7" name="Object 6" descr="https://fynotefile.oss-cn-zhangjiakou.aliyuncs.com/fynote/fyfile/392/1/8486aefb265a42c4adf6d8938809b6d4.png">    </p:cNvPr>
          <p:cNvPicPr>
            <a:picLocks noChangeAspect="1"/>
          </p:cNvPicPr>
          <p:nvPr/>
        </p:nvPicPr>
        <p:blipFill>
          <a:blip r:embed="rId2"/>
          <a:stretch>
            <a:fillRect/>
          </a:stretch>
        </p:blipFill>
        <p:spPr>
          <a:xfrm>
            <a:off x="6771680" y="-2300"/>
            <a:ext cx="2372320" cy="1829940"/>
          </a:xfrm>
          <a:prstGeom prst="rect">
            <a:avLst/>
          </a:prstGeom>
        </p:spPr>
      </p:pic>
      <p:pic>
        <p:nvPicPr>
          <p:cNvPr id="8" name="Object 7" descr="https://fynotefile.oss-cn-zhangjiakou.aliyuncs.com/fynote/fyfile/392/1/9942b3bd883144a4ba9eba285821cebd.png">    </p:cNvPr>
          <p:cNvPicPr>
            <a:picLocks noChangeAspect="1"/>
          </p:cNvPicPr>
          <p:nvPr/>
        </p:nvPicPr>
        <p:blipFill>
          <a:blip r:embed="rId3"/>
          <a:stretch>
            <a:fillRect/>
          </a:stretch>
        </p:blipFill>
        <p:spPr>
          <a:xfrm>
            <a:off x="0" y="2413426"/>
            <a:ext cx="1495032" cy="2480583"/>
          </a:xfrm>
          <a:prstGeom prst="rect">
            <a:avLst/>
          </a:prstGeom>
        </p:spPr>
      </p:pic>
      <p:pic>
        <p:nvPicPr>
          <p:cNvPr id="9" name="Object 8" descr="https://fynotefile.oss-cn-zhangjiakou.aliyuncs.com/fynote/fyfile/392/1/38ad7252fd0c4accabf65b2b6e4a0927.png">    </p:cNvPr>
          <p:cNvPicPr>
            <a:picLocks noChangeAspect="1"/>
          </p:cNvPicPr>
          <p:nvPr/>
        </p:nvPicPr>
        <p:blipFill>
          <a:blip r:embed="rId4"/>
          <a:stretch>
            <a:fillRect/>
          </a:stretch>
        </p:blipFill>
        <p:spPr>
          <a:xfrm>
            <a:off x="7633442" y="2886332"/>
            <a:ext cx="266271" cy="266271"/>
          </a:xfrm>
          <a:prstGeom prst="rect">
            <a:avLst/>
          </a:prstGeom>
        </p:spPr>
      </p:pic>
      <p:pic>
        <p:nvPicPr>
          <p:cNvPr id="10" name="Object 9" descr="https://fynotefile.oss-cn-zhangjiakou.aliyuncs.com/fynote/fyfile/3/1/09a55c53ed2b4a4d9ff43893669e9072.sv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85060" y="127621"/>
            <a:ext cx="1346548" cy="351232"/>
          </a:xfrm>
          <a:prstGeom prst="rect">
            <a:avLst/>
          </a:prstGeom>
        </p:spPr>
      </p:pic>
      <p:sp>
        <p:nvSpPr>
          <p:cNvPr id="11" name="Object10"/>
          <p:cNvSpPr/>
          <p:nvPr/>
        </p:nvSpPr>
        <p:spPr>
          <a:xfrm>
            <a:off x="2736899" y="3449423"/>
            <a:ext cx="5486400" cy="512064"/>
          </a:xfrm>
          <a:prstGeom prst="rect">
            <a:avLst/>
          </a:prstGeom>
          <a:noFill/>
          <a:ln/>
        </p:spPr>
        <p:txBody>
          <a:bodyPr wrap="square" rtlCol="0" anchor="ctr"/>
          <a:lstStyle/>
          <a:p>
            <a:r>
              <a:rPr lang="en-US" sz="1800" dirty="0">
                <a:solidFill>
                  <a:srgbClr val="333333"/>
                </a:solidFill>
                <a:latin typeface="Microsoft Yahei" pitchFamily="34" charset="0"/>
                <a:ea typeface="Microsoft Yahei" pitchFamily="34" charset="-122"/>
                <a:cs typeface="Microsoft Yahei" pitchFamily="34" charset="-120"/>
              </a:rPr>
              <a:t>if_seq_no 和 if_primary_term</a:t>
            </a:r>
            <a:endParaRPr lang="en-US" sz="1500" dirty="0"/>
          </a:p>
        </p:txBody>
      </p:sp>
      <p:sp>
        <p:nvSpPr>
          <p:cNvPr id="12" name="Object11"/>
          <p:cNvSpPr/>
          <p:nvPr/>
        </p:nvSpPr>
        <p:spPr>
          <a:xfrm>
            <a:off x="2787951" y="2671019"/>
            <a:ext cx="5486400" cy="512064"/>
          </a:xfrm>
          <a:prstGeom prst="rect">
            <a:avLst/>
          </a:prstGeom>
          <a:noFill/>
          <a:ln/>
        </p:spPr>
        <p:txBody>
          <a:bodyPr wrap="square" rtlCol="0" anchor="ctr"/>
          <a:lstStyle/>
          <a:p>
            <a:r>
              <a:rPr lang="en-US" sz="1800" dirty="0">
                <a:solidFill>
                  <a:srgbClr val="333333"/>
                </a:solidFill>
                <a:latin typeface="Microsoft Yahei" pitchFamily="34" charset="0"/>
                <a:ea typeface="Microsoft Yahei" pitchFamily="34" charset="-122"/>
                <a:cs typeface="Microsoft Yahei" pitchFamily="34" charset="-120"/>
              </a:rPr>
              <a:t>seq_no 和 primary_term</a:t>
            </a:r>
            <a:endParaRPr lang="en-US" sz="1500" dirty="0"/>
          </a:p>
        </p:txBody>
      </p:sp>
      <p:sp>
        <p:nvSpPr>
          <p:cNvPr id="13" name="Object12"/>
          <p:cNvSpPr/>
          <p:nvPr/>
        </p:nvSpPr>
        <p:spPr>
          <a:xfrm>
            <a:off x="2787951" y="1956226"/>
            <a:ext cx="5486400" cy="512064"/>
          </a:xfrm>
          <a:prstGeom prst="rect">
            <a:avLst/>
          </a:prstGeom>
          <a:noFill/>
          <a:ln/>
        </p:spPr>
        <p:txBody>
          <a:bodyPr wrap="square" rtlCol="0" anchor="ctr"/>
          <a:lstStyle/>
          <a:p>
            <a:r>
              <a:rPr lang="en-US" sz="1800" dirty="0">
                <a:solidFill>
                  <a:srgbClr val="333333"/>
                </a:solidFill>
                <a:latin typeface="Microsoft Yahei" pitchFamily="34" charset="0"/>
                <a:ea typeface="Microsoft Yahei" pitchFamily="34" charset="-122"/>
                <a:cs typeface="Microsoft Yahei" pitchFamily="34" charset="-120"/>
              </a:rPr>
              <a:t>版本号</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2022-07-07T08:57:51Z</dcterms:created>
  <dcterms:modified xsi:type="dcterms:W3CDTF">2022-07-07T08:57:51Z</dcterms:modified>
</cp:coreProperties>
</file>